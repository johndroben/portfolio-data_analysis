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Bricolage Grotesque SemiBold" panose="020B0604020202020204" charset="0"/>
      <p:regular r:id="rId21"/>
      <p:bold r:id="rId22"/>
    </p:embeddedFont>
    <p:embeddedFont>
      <p:font typeface="Bricolage Grotesque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78279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1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Премьеры</a:t>
            </a:r>
            <a:r>
              <a:rPr lang="en-US" sz="4450" b="1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450" b="1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недели</a:t>
            </a:r>
            <a:r>
              <a:rPr lang="en-US" sz="4450" b="1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: </a:t>
            </a:r>
            <a:endParaRPr sz="4450" b="1" i="0" u="none" strike="noStrike" cap="none" dirty="0"/>
          </a:p>
        </p:txBody>
      </p:sp>
      <p:sp>
        <p:nvSpPr>
          <p:cNvPr id="58" name="Google Shape;58;p13"/>
          <p:cNvSpPr/>
          <p:nvPr/>
        </p:nvSpPr>
        <p:spPr>
          <a:xfrm>
            <a:off x="6280190" y="1582301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A/B‑</a:t>
            </a: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тест</a:t>
            </a:r>
            <a:r>
              <a:rPr lang="en-US" sz="445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главного</a:t>
            </a:r>
            <a:r>
              <a:rPr lang="en-US" sz="445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экрана</a:t>
            </a:r>
            <a:r>
              <a:rPr lang="en-US" sz="445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видеосервиса</a:t>
            </a:r>
            <a:endParaRPr sz="4450" b="0" i="0" u="none" strike="noStrike" cap="none" dirty="0"/>
          </a:p>
        </p:txBody>
      </p:sp>
      <p:sp>
        <p:nvSpPr>
          <p:cNvPr id="59" name="Google Shape;59;p13"/>
          <p:cNvSpPr/>
          <p:nvPr/>
        </p:nvSpPr>
        <p:spPr>
          <a:xfrm>
            <a:off x="6280190" y="3340021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Влияние позиции блока премьер на взаимодействие с новинками</a:t>
            </a:r>
            <a:endParaRPr sz="1750" b="0" i="0" u="none" strike="noStrike" cap="none"/>
          </a:p>
        </p:txBody>
      </p:sp>
      <p:sp>
        <p:nvSpPr>
          <p:cNvPr id="60" name="Google Shape;60;p13"/>
          <p:cNvSpPr/>
          <p:nvPr/>
        </p:nvSpPr>
        <p:spPr>
          <a:xfrm>
            <a:off x="6280190" y="3958074"/>
            <a:ext cx="1629966" cy="426244"/>
          </a:xfrm>
          <a:prstGeom prst="roundRect">
            <a:avLst>
              <a:gd name="adj" fmla="val 17880"/>
            </a:avLst>
          </a:pr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6416278" y="4026059"/>
            <a:ext cx="1357789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400"/>
              <a:buFont typeface="Inter"/>
              <a:buNone/>
            </a:pPr>
            <a:r>
              <a:rPr lang="en-US" sz="14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ФЕВРАЛЬ 2026</a:t>
            </a:r>
            <a:endParaRPr sz="140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6280190" y="4639469"/>
            <a:ext cx="7556421" cy="1689616"/>
          </a:xfrm>
          <a:prstGeom prst="roundRect">
            <a:avLst>
              <a:gd name="adj" fmla="val 5638"/>
            </a:avLst>
          </a:prstGeom>
          <a:solidFill>
            <a:srgbClr val="F4E3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7004" y="4983559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7017306" y="4922957"/>
            <a:ext cx="659249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Цель — понять, растёт ли вовлечённость в новые фильмы и сериалы, если поднять блок «Премьеры недели» наверх главного экрана.</a:t>
            </a:r>
            <a:endParaRPr sz="1750" b="0" i="0" u="none" strike="noStrike" cap="none"/>
          </a:p>
        </p:txBody>
      </p:sp>
      <p:sp>
        <p:nvSpPr>
          <p:cNvPr id="2" name="Прямоугольник 1"/>
          <p:cNvSpPr/>
          <p:nvPr/>
        </p:nvSpPr>
        <p:spPr>
          <a:xfrm>
            <a:off x="11823700" y="7505700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11811000" y="7472165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8985504" y="6876288"/>
            <a:ext cx="4851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/>
              <a:t>Исследование выполнил: </a:t>
            </a:r>
            <a:r>
              <a:rPr lang="ru-RU" sz="1800" dirty="0" err="1" smtClean="0"/>
              <a:t>Дробенюк</a:t>
            </a:r>
            <a:r>
              <a:rPr lang="ru-RU" sz="1800" dirty="0" smtClean="0"/>
              <a:t> Г.Н.</a:t>
            </a:r>
            <a:endParaRPr lang="ru-RU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6164699" y="723424"/>
            <a:ext cx="7787402" cy="1211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800"/>
              <a:buFont typeface="Bricolage Grotesque"/>
              <a:buNone/>
            </a:pPr>
            <a:r>
              <a:rPr lang="en-US" sz="38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Как устроен главный экран сейчас</a:t>
            </a:r>
            <a:endParaRPr sz="3800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6164699" y="2182892"/>
            <a:ext cx="7787402" cy="1410295"/>
          </a:xfrm>
          <a:prstGeom prst="roundRect">
            <a:avLst>
              <a:gd name="adj" fmla="val 778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3" name="Google Shape;73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839" y="2182892"/>
            <a:ext cx="91440" cy="141029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6449854" y="2399467"/>
            <a:ext cx="2431256" cy="30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900"/>
              <a:buFont typeface="Bricolage Grotesque"/>
              <a:buNone/>
            </a:pPr>
            <a:r>
              <a:rPr lang="en-US" sz="19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Вертикальная лента</a:t>
            </a:r>
            <a:endParaRPr sz="1900" b="0" i="0" u="none" strike="noStrike" cap="none"/>
          </a:p>
        </p:txBody>
      </p:sp>
      <p:sp>
        <p:nvSpPr>
          <p:cNvPr id="75" name="Google Shape;75;p14"/>
          <p:cNvSpPr/>
          <p:nvPr/>
        </p:nvSpPr>
        <p:spPr>
          <a:xfrm>
            <a:off x="6449854" y="2801541"/>
            <a:ext cx="7285673" cy="57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Главный экран — несколько блоков‑каруселей, расположенных вертикально.</a:t>
            </a:r>
            <a:endParaRPr sz="150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6164699" y="3758684"/>
            <a:ext cx="7787402" cy="1410295"/>
          </a:xfrm>
          <a:prstGeom prst="roundRect">
            <a:avLst>
              <a:gd name="adj" fmla="val 778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839" y="3758684"/>
            <a:ext cx="91440" cy="141029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6449854" y="3975259"/>
            <a:ext cx="2422565" cy="30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900"/>
              <a:buFont typeface="Bricolage Grotesque"/>
              <a:buNone/>
            </a:pPr>
            <a:r>
              <a:rPr lang="en-US" sz="19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Блок в середине</a:t>
            </a:r>
            <a:endParaRPr sz="1900" b="0" i="0" u="none" strike="noStrike" cap="none"/>
          </a:p>
        </p:txBody>
      </p:sp>
      <p:sp>
        <p:nvSpPr>
          <p:cNvPr id="79" name="Google Shape;79;p14"/>
          <p:cNvSpPr/>
          <p:nvPr/>
        </p:nvSpPr>
        <p:spPr>
          <a:xfrm>
            <a:off x="6449854" y="4377333"/>
            <a:ext cx="7285673" cy="57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00"/>
              <a:buFont typeface="Inter"/>
              <a:buNone/>
            </a:pP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«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Премьеры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недели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»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находятся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ниже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основных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подборок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—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нужно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пролистать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вниз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b="0" i="0" u="none" strike="noStrike" cap="none" dirty="0"/>
          </a:p>
        </p:txBody>
      </p:sp>
      <p:sp>
        <p:nvSpPr>
          <p:cNvPr id="80" name="Google Shape;80;p14"/>
          <p:cNvSpPr/>
          <p:nvPr/>
        </p:nvSpPr>
        <p:spPr>
          <a:xfrm>
            <a:off x="6164699" y="5334476"/>
            <a:ext cx="7787402" cy="1410295"/>
          </a:xfrm>
          <a:prstGeom prst="roundRect">
            <a:avLst>
              <a:gd name="adj" fmla="val 7780"/>
            </a:avLst>
          </a:prstGeom>
          <a:solidFill>
            <a:srgbClr val="FFFFFF">
              <a:alpha val="94901"/>
            </a:srgbClr>
          </a:solidFill>
          <a:ln w="22850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" name="Google Shape;81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1839" y="5334476"/>
            <a:ext cx="91440" cy="141029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/>
          <p:nvPr/>
        </p:nvSpPr>
        <p:spPr>
          <a:xfrm>
            <a:off x="6449854" y="5551051"/>
            <a:ext cx="2422565" cy="30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900"/>
              <a:buFont typeface="Bricolage Grotesque"/>
              <a:buNone/>
            </a:pPr>
            <a:r>
              <a:rPr lang="en-US" sz="19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Потери аудитории</a:t>
            </a:r>
            <a:endParaRPr sz="1900" b="0" i="0" u="none" strike="noStrike" cap="none"/>
          </a:p>
        </p:txBody>
      </p:sp>
      <p:sp>
        <p:nvSpPr>
          <p:cNvPr id="83" name="Google Shape;83;p14"/>
          <p:cNvSpPr/>
          <p:nvPr/>
        </p:nvSpPr>
        <p:spPr>
          <a:xfrm>
            <a:off x="6449854" y="5953125"/>
            <a:ext cx="7285673" cy="57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00"/>
              <a:buFont typeface="Inter"/>
              <a:buNone/>
            </a:pPr>
            <a:r>
              <a:rPr lang="en-US" sz="15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Маркетинг считает, что часть пользователей почти не взаимодействует с новинками из‑за их низкой позиции.</a:t>
            </a:r>
            <a:endParaRPr sz="1500" b="0" i="0" u="none" strike="noStrike" cap="none"/>
          </a:p>
        </p:txBody>
      </p:sp>
      <p:sp>
        <p:nvSpPr>
          <p:cNvPr id="84" name="Google Shape;84;p14"/>
          <p:cNvSpPr/>
          <p:nvPr/>
        </p:nvSpPr>
        <p:spPr>
          <a:xfrm>
            <a:off x="6164699" y="6930985"/>
            <a:ext cx="7787402" cy="575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500"/>
              <a:buFont typeface="Inter"/>
              <a:buNone/>
            </a:pP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Премьеры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конкурируют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внимание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с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верхними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блоками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могут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«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теряться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»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скролле</a:t>
            </a:r>
            <a:r>
              <a:rPr lang="en-US" sz="15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500" b="0" i="0" u="none" strike="noStrike" cap="none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-429972" y="-356116"/>
            <a:ext cx="5760720" cy="8229600"/>
            <a:chOff x="-429972" y="-356116"/>
            <a:chExt cx="5760720" cy="8229600"/>
          </a:xfrm>
        </p:grpSpPr>
        <p:pic>
          <p:nvPicPr>
            <p:cNvPr id="70" name="Google Shape;70;p14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-429972" y="-356116"/>
              <a:ext cx="5760720" cy="822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Скругленный прямоугольник 4"/>
            <p:cNvSpPr/>
            <p:nvPr/>
          </p:nvSpPr>
          <p:spPr>
            <a:xfrm>
              <a:off x="1085016" y="5334775"/>
              <a:ext cx="1536263" cy="367664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Овал 1"/>
            <p:cNvSpPr/>
            <p:nvPr/>
          </p:nvSpPr>
          <p:spPr>
            <a:xfrm>
              <a:off x="947885" y="5228094"/>
              <a:ext cx="1829868" cy="58102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1007649" y="5364717"/>
              <a:ext cx="23408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b="1" dirty="0" smtClean="0">
                  <a:solidFill>
                    <a:schemeClr val="accent4">
                      <a:lumMod val="50000"/>
                    </a:schemeClr>
                  </a:solidFill>
                </a:rPr>
                <a:t>Премьеры недели</a:t>
              </a:r>
              <a:endParaRPr lang="ru-RU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2" name="Прямоугольник 21"/>
          <p:cNvSpPr/>
          <p:nvPr/>
        </p:nvSpPr>
        <p:spPr>
          <a:xfrm>
            <a:off x="11823700" y="7439977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793790" y="1725692"/>
            <a:ext cx="84899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Гипотеза и ключевые метрики</a:t>
            </a:r>
            <a:endParaRPr sz="4450" b="0" i="0" u="none" strike="noStrike" cap="none"/>
          </a:p>
        </p:txBody>
      </p:sp>
      <p:sp>
        <p:nvSpPr>
          <p:cNvPr id="91" name="Google Shape;91;p15"/>
          <p:cNvSpPr/>
          <p:nvPr/>
        </p:nvSpPr>
        <p:spPr>
          <a:xfrm>
            <a:off x="793790" y="3029783"/>
            <a:ext cx="3008948" cy="321885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1028224" y="3264218"/>
            <a:ext cx="2540079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H1 (альтернативная)</a:t>
            </a:r>
            <a:endParaRPr sz="2200" b="0" i="0" u="none" strike="noStrike" cap="none"/>
          </a:p>
        </p:txBody>
      </p:sp>
      <p:sp>
        <p:nvSpPr>
          <p:cNvPr id="93" name="Google Shape;93;p15"/>
          <p:cNvSpPr/>
          <p:nvPr/>
        </p:nvSpPr>
        <p:spPr>
          <a:xfrm>
            <a:off x="1028224" y="4199692"/>
            <a:ext cx="2540079" cy="181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Подъём блока под баннер/поиск увеличит взаимодействие с премьерами.</a:t>
            </a:r>
            <a:endParaRPr sz="1750" b="0" i="0" u="none" strike="noStrike" cap="none"/>
          </a:p>
        </p:txBody>
      </p:sp>
      <p:sp>
        <p:nvSpPr>
          <p:cNvPr id="94" name="Google Shape;94;p15"/>
          <p:cNvSpPr/>
          <p:nvPr/>
        </p:nvSpPr>
        <p:spPr>
          <a:xfrm>
            <a:off x="4029551" y="3029783"/>
            <a:ext cx="3008948" cy="3218855"/>
          </a:xfrm>
          <a:prstGeom prst="roundRect">
            <a:avLst>
              <a:gd name="adj" fmla="val 3166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4263985" y="3264218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H0 (нулевая)</a:t>
            </a:r>
            <a:endParaRPr sz="2200" b="0" i="0" u="none" strike="noStrike" cap="none"/>
          </a:p>
        </p:txBody>
      </p:sp>
      <p:sp>
        <p:nvSpPr>
          <p:cNvPr id="96" name="Google Shape;96;p15"/>
          <p:cNvSpPr/>
          <p:nvPr/>
        </p:nvSpPr>
        <p:spPr>
          <a:xfrm>
            <a:off x="4263985" y="3845362"/>
            <a:ext cx="2540079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Позиция блока не влияет на взаимодействие с новинками.</a:t>
            </a:r>
            <a:endParaRPr sz="1750" b="0" i="0" u="none" strike="noStrike" cap="none"/>
          </a:p>
        </p:txBody>
      </p:sp>
      <p:sp>
        <p:nvSpPr>
          <p:cNvPr id="97" name="Google Shape;97;p15"/>
          <p:cNvSpPr/>
          <p:nvPr/>
        </p:nvSpPr>
        <p:spPr>
          <a:xfrm>
            <a:off x="7599521" y="300144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Ключевые метрики</a:t>
            </a:r>
            <a:endParaRPr sz="2200" b="0" i="0" u="none" strike="noStrike" cap="none"/>
          </a:p>
        </p:txBody>
      </p:sp>
      <p:sp>
        <p:nvSpPr>
          <p:cNvPr id="98" name="Google Shape;98;p15"/>
          <p:cNvSpPr/>
          <p:nvPr/>
        </p:nvSpPr>
        <p:spPr>
          <a:xfrm>
            <a:off x="7599521" y="3582591"/>
            <a:ext cx="6244709" cy="2778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CTR блока премьер</a:t>
            </a: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— доля пользователей с ≥1 кликом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Play rate</a:t>
            </a: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— доля запустивших просмотр премьеры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Среднее время просмотра</a:t>
            </a: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премьер на пользователя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Guardrails:</a:t>
            </a: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общее время просмотра, техническая стабильность</a:t>
            </a:r>
            <a:endParaRPr sz="1750" b="0" i="0" u="none" strike="noStrike" cap="none"/>
          </a:p>
        </p:txBody>
      </p:sp>
      <p:sp>
        <p:nvSpPr>
          <p:cNvPr id="11" name="Прямоугольник 10"/>
          <p:cNvSpPr/>
          <p:nvPr/>
        </p:nvSpPr>
        <p:spPr>
          <a:xfrm>
            <a:off x="11823700" y="7416800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6280190" y="116157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Дизайн A/B‑теста</a:t>
            </a:r>
            <a:endParaRPr sz="4450" b="0" i="0" u="none" strike="noStrike" cap="none"/>
          </a:p>
        </p:txBody>
      </p:sp>
      <p:sp>
        <p:nvSpPr>
          <p:cNvPr id="106" name="Google Shape;106;p16"/>
          <p:cNvSpPr/>
          <p:nvPr/>
        </p:nvSpPr>
        <p:spPr>
          <a:xfrm>
            <a:off x="6280190" y="2210514"/>
            <a:ext cx="7556421" cy="2992041"/>
          </a:xfrm>
          <a:prstGeom prst="roundRect">
            <a:avLst>
              <a:gd name="adj" fmla="val 3184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6287810" y="2218134"/>
            <a:ext cx="7541181" cy="1306949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6514624" y="2444948"/>
            <a:ext cx="3150037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Вариант A — Контроль</a:t>
            </a:r>
            <a:endParaRPr sz="2200" b="0" i="0" u="none" strike="noStrike" cap="none"/>
          </a:p>
        </p:txBody>
      </p:sp>
      <p:sp>
        <p:nvSpPr>
          <p:cNvPr id="109" name="Google Shape;109;p16"/>
          <p:cNvSpPr/>
          <p:nvPr/>
        </p:nvSpPr>
        <p:spPr>
          <a:xfrm>
            <a:off x="6514624" y="2935367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Блок «Премьеры недели» в середине ленты (4–5 позиция).</a:t>
            </a:r>
            <a:endParaRPr sz="1750" b="0" i="0" u="none" strike="noStrike" cap="none"/>
          </a:p>
        </p:txBody>
      </p:sp>
      <p:sp>
        <p:nvSpPr>
          <p:cNvPr id="110" name="Google Shape;110;p16"/>
          <p:cNvSpPr/>
          <p:nvPr/>
        </p:nvSpPr>
        <p:spPr>
          <a:xfrm>
            <a:off x="6287810" y="3525083"/>
            <a:ext cx="7541181" cy="16698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6287810" y="3525083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F8ECD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6514624" y="37518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Вариант B — Тест</a:t>
            </a:r>
            <a:endParaRPr sz="2200" b="0" i="0" u="none" strike="noStrike" cap="none"/>
          </a:p>
        </p:txBody>
      </p:sp>
      <p:sp>
        <p:nvSpPr>
          <p:cNvPr id="113" name="Google Shape;113;p16"/>
          <p:cNvSpPr/>
          <p:nvPr/>
        </p:nvSpPr>
        <p:spPr>
          <a:xfrm>
            <a:off x="6514624" y="4242316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Блок сразу под приветственным баннером/поиском (1–2 позиция).</a:t>
            </a:r>
            <a:endParaRPr sz="1750" b="0" i="0" u="none" strike="noStrike" cap="none"/>
          </a:p>
        </p:txBody>
      </p:sp>
      <p:sp>
        <p:nvSpPr>
          <p:cNvPr id="114" name="Google Shape;114;p16"/>
          <p:cNvSpPr/>
          <p:nvPr/>
        </p:nvSpPr>
        <p:spPr>
          <a:xfrm>
            <a:off x="6280190" y="5457706"/>
            <a:ext cx="7556421" cy="1610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Рандомизация по user_id — каждый пользователь всегда видит один вариант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Сплит 50/50, период — не менее 1–2 недель</a:t>
            </a:r>
            <a:endParaRPr sz="1750" b="0" i="0" u="none" strike="noStrike" cap="none"/>
          </a:p>
          <a:p>
            <a:pPr marL="342900" marR="0" lvl="0" indent="-34290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Char char="•"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Исключены сотрудники и тест‑аккаунты</a:t>
            </a:r>
            <a:endParaRPr sz="1750" b="0" i="0" u="none" strike="noStrike" cap="none"/>
          </a:p>
        </p:txBody>
      </p:sp>
      <p:sp>
        <p:nvSpPr>
          <p:cNvPr id="13" name="Прямоугольник 12"/>
          <p:cNvSpPr/>
          <p:nvPr/>
        </p:nvSpPr>
        <p:spPr>
          <a:xfrm>
            <a:off x="11823700" y="7505700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900113" y="1379042"/>
            <a:ext cx="8781336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Кто</a:t>
            </a:r>
            <a:r>
              <a:rPr lang="en-US" sz="445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участвовал</a:t>
            </a:r>
            <a:r>
              <a:rPr lang="en-US" sz="445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в </a:t>
            </a:r>
            <a:r>
              <a:rPr lang="en-US" sz="445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эксперименте</a:t>
            </a:r>
            <a:endParaRPr sz="4450" b="0" i="0" u="none" strike="noStrike" cap="none" dirty="0"/>
          </a:p>
        </p:txBody>
      </p:sp>
      <p:sp>
        <p:nvSpPr>
          <p:cNvPr id="121" name="Google Shape;121;p17"/>
          <p:cNvSpPr/>
          <p:nvPr/>
        </p:nvSpPr>
        <p:spPr>
          <a:xfrm>
            <a:off x="793790" y="3319582"/>
            <a:ext cx="3048000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5850"/>
              <a:buFont typeface="Bricolage Grotesque"/>
              <a:buNone/>
            </a:pPr>
            <a:r>
              <a:rPr lang="en-US" sz="58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200K</a:t>
            </a:r>
            <a:endParaRPr sz="5850" b="0" i="0" u="none" strike="noStrike" cap="none"/>
          </a:p>
        </p:txBody>
      </p:sp>
      <p:sp>
        <p:nvSpPr>
          <p:cNvPr id="122" name="Google Shape;122;p17"/>
          <p:cNvSpPr/>
          <p:nvPr/>
        </p:nvSpPr>
        <p:spPr>
          <a:xfrm>
            <a:off x="900113" y="43513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Всего участников</a:t>
            </a:r>
            <a:endParaRPr sz="2200" b="0" i="0" u="none" strike="noStrike" cap="none"/>
          </a:p>
        </p:txBody>
      </p:sp>
      <p:sp>
        <p:nvSpPr>
          <p:cNvPr id="123" name="Google Shape;123;p17"/>
          <p:cNvSpPr/>
          <p:nvPr/>
        </p:nvSpPr>
        <p:spPr>
          <a:xfrm>
            <a:off x="793790" y="4841796"/>
            <a:ext cx="3048000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 100 000 в каждой группе</a:t>
            </a:r>
            <a:endParaRPr sz="1750" b="0" i="0" u="none" strike="noStrike" cap="none"/>
          </a:p>
        </p:txBody>
      </p:sp>
      <p:sp>
        <p:nvSpPr>
          <p:cNvPr id="124" name="Google Shape;124;p17"/>
          <p:cNvSpPr/>
          <p:nvPr/>
        </p:nvSpPr>
        <p:spPr>
          <a:xfrm>
            <a:off x="4125278" y="3319582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5850"/>
              <a:buFont typeface="Bricolage Grotesque"/>
              <a:buNone/>
            </a:pPr>
            <a:r>
              <a:rPr lang="en-US" sz="58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50/50</a:t>
            </a:r>
            <a:endParaRPr sz="5850" b="0" i="0" u="none" strike="noStrike" cap="none"/>
          </a:p>
        </p:txBody>
      </p:sp>
      <p:sp>
        <p:nvSpPr>
          <p:cNvPr id="125" name="Google Shape;125;p17"/>
          <p:cNvSpPr/>
          <p:nvPr/>
        </p:nvSpPr>
        <p:spPr>
          <a:xfrm>
            <a:off x="4231719" y="43513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Сплит групп</a:t>
            </a:r>
            <a:endParaRPr sz="2200" b="0" i="0" u="none" strike="noStrike" cap="none"/>
          </a:p>
        </p:txBody>
      </p:sp>
      <p:sp>
        <p:nvSpPr>
          <p:cNvPr id="126" name="Google Shape;126;p17"/>
          <p:cNvSpPr/>
          <p:nvPr/>
        </p:nvSpPr>
        <p:spPr>
          <a:xfrm>
            <a:off x="4125278" y="4841796"/>
            <a:ext cx="304811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Равное распределение A и B</a:t>
            </a:r>
            <a:endParaRPr sz="1750" b="0" i="0" u="none" strike="noStrike" cap="none"/>
          </a:p>
        </p:txBody>
      </p:sp>
      <p:sp>
        <p:nvSpPr>
          <p:cNvPr id="127" name="Google Shape;127;p17"/>
          <p:cNvSpPr/>
          <p:nvPr/>
        </p:nvSpPr>
        <p:spPr>
          <a:xfrm>
            <a:off x="7456884" y="3319582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5850"/>
              <a:buFont typeface="Bricolage Grotesque"/>
              <a:buNone/>
            </a:pPr>
            <a:r>
              <a:rPr lang="en-US" sz="58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1100</a:t>
            </a:r>
            <a:endParaRPr sz="5850" b="0" i="0" u="none" strike="noStrike" cap="none"/>
          </a:p>
        </p:txBody>
      </p:sp>
      <p:sp>
        <p:nvSpPr>
          <p:cNvPr id="128" name="Google Shape;128;p17"/>
          <p:cNvSpPr/>
          <p:nvPr/>
        </p:nvSpPr>
        <p:spPr>
          <a:xfrm>
            <a:off x="7563326" y="43513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Сек. просмотра (A)</a:t>
            </a:r>
            <a:endParaRPr sz="2200" b="0" i="0" u="none" strike="noStrike" cap="none"/>
          </a:p>
        </p:txBody>
      </p:sp>
      <p:sp>
        <p:nvSpPr>
          <p:cNvPr id="129" name="Google Shape;129;p17"/>
          <p:cNvSpPr/>
          <p:nvPr/>
        </p:nvSpPr>
        <p:spPr>
          <a:xfrm>
            <a:off x="7456884" y="4841796"/>
            <a:ext cx="3048119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Среднее до изменения</a:t>
            </a:r>
            <a:endParaRPr sz="1750" b="0" i="0" u="none" strike="noStrike" cap="none"/>
          </a:p>
        </p:txBody>
      </p:sp>
      <p:sp>
        <p:nvSpPr>
          <p:cNvPr id="130" name="Google Shape;130;p17"/>
          <p:cNvSpPr/>
          <p:nvPr/>
        </p:nvSpPr>
        <p:spPr>
          <a:xfrm>
            <a:off x="10788491" y="3319582"/>
            <a:ext cx="3048119" cy="748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5850"/>
              <a:buFont typeface="Bricolage Grotesque"/>
              <a:buNone/>
            </a:pPr>
            <a:r>
              <a:rPr lang="en-US" sz="58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1115</a:t>
            </a:r>
            <a:endParaRPr sz="5850" b="0" i="0" u="none" strike="noStrike" cap="none"/>
          </a:p>
        </p:txBody>
      </p:sp>
      <p:sp>
        <p:nvSpPr>
          <p:cNvPr id="131" name="Google Shape;131;p17"/>
          <p:cNvSpPr/>
          <p:nvPr/>
        </p:nvSpPr>
        <p:spPr>
          <a:xfrm>
            <a:off x="10894933" y="435137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Сек. просмотра (B)</a:t>
            </a:r>
            <a:endParaRPr sz="2200" b="0" i="0" u="none" strike="noStrike" cap="none"/>
          </a:p>
        </p:txBody>
      </p:sp>
      <p:sp>
        <p:nvSpPr>
          <p:cNvPr id="132" name="Google Shape;132;p17"/>
          <p:cNvSpPr/>
          <p:nvPr/>
        </p:nvSpPr>
        <p:spPr>
          <a:xfrm>
            <a:off x="10788491" y="4841796"/>
            <a:ext cx="304811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Сопоставимый базовый уровень</a:t>
            </a:r>
            <a:endParaRPr sz="1750" b="0" i="0" u="none" strike="noStrike" cap="none"/>
          </a:p>
        </p:txBody>
      </p:sp>
      <p:sp>
        <p:nvSpPr>
          <p:cNvPr id="133" name="Google Shape;133;p17"/>
          <p:cNvSpPr/>
          <p:nvPr/>
        </p:nvSpPr>
        <p:spPr>
          <a:xfrm>
            <a:off x="793790" y="6546652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Рандомизация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сработала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корректно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группы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A и B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сопоставимы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профилю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устройствам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7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активности</a:t>
            </a:r>
            <a:r>
              <a:rPr lang="en-US" sz="17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750" b="0" i="0" u="none" strike="noStrike" cap="none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1823700" y="7527608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1200150" y="521256"/>
            <a:ext cx="4431149" cy="55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450"/>
              <a:buFont typeface="Bricolage Grotesque"/>
              <a:buNone/>
            </a:pPr>
            <a:r>
              <a:rPr lang="en-US" sz="34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Первый эффект: </a:t>
            </a:r>
            <a:endParaRPr sz="3450" b="0" i="0" u="none" strike="noStrike" cap="none"/>
          </a:p>
        </p:txBody>
      </p:sp>
      <p:sp>
        <p:nvSpPr>
          <p:cNvPr id="140" name="Google Shape;140;p18"/>
          <p:cNvSpPr/>
          <p:nvPr/>
        </p:nvSpPr>
        <p:spPr>
          <a:xfrm>
            <a:off x="1200150" y="1130498"/>
            <a:ext cx="9641681" cy="55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3450"/>
              <a:buFont typeface="Bricolage Grotesque"/>
              <a:buNone/>
            </a:pPr>
            <a:r>
              <a:rPr lang="en-US" sz="34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блок «Премьеры недели» стали чаще видеть</a:t>
            </a:r>
            <a:endParaRPr sz="3450" b="0" i="0" u="none" strike="noStrike" cap="none"/>
          </a:p>
        </p:txBody>
      </p:sp>
      <p:pic>
        <p:nvPicPr>
          <p:cNvPr id="141" name="Google Shape;141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0150" y="2047756"/>
            <a:ext cx="7798117" cy="436685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9438322" y="3639264"/>
            <a:ext cx="4188777" cy="553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Bricolage Grotesque"/>
              <a:buNone/>
            </a:pPr>
            <a:r>
              <a:rPr lang="en-US" sz="20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Видимость</a:t>
            </a:r>
            <a:r>
              <a:rPr lang="en-US" sz="20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0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блока</a:t>
            </a:r>
            <a:r>
              <a:rPr lang="en-US" sz="20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«</a:t>
            </a:r>
            <a:r>
              <a:rPr lang="en-US" sz="20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Премьеры</a:t>
            </a:r>
            <a:r>
              <a:rPr lang="en-US" sz="20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0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недели</a:t>
            </a:r>
            <a:r>
              <a:rPr lang="en-US" sz="20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»</a:t>
            </a:r>
            <a:endParaRPr sz="2000" b="0" i="0" u="none" strike="noStrike" cap="none" dirty="0"/>
          </a:p>
        </p:txBody>
      </p:sp>
      <p:sp>
        <p:nvSpPr>
          <p:cNvPr id="143" name="Google Shape;143;p18"/>
          <p:cNvSpPr/>
          <p:nvPr/>
        </p:nvSpPr>
        <p:spPr>
          <a:xfrm>
            <a:off x="9438323" y="4331613"/>
            <a:ext cx="3999428" cy="505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50"/>
              <a:buFont typeface="Inter"/>
              <a:buNone/>
            </a:pP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После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переноса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блока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наверх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его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увидели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92% </a:t>
            </a:r>
            <a:r>
              <a:rPr lang="en-US" sz="2000" b="1" i="0" u="none" strike="noStrike" cap="none" dirty="0" err="1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пользователей</a:t>
            </a:r>
            <a:r>
              <a:rPr lang="ru-RU" sz="2000" b="1" i="0" u="none" strike="noStrike" cap="none" dirty="0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600" i="0" u="none" strike="noStrike" cap="none" dirty="0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тестовой группы В, </a:t>
            </a:r>
            <a:r>
              <a:rPr lang="en-US" sz="1600" i="0" u="none" strike="noStrike" cap="none" dirty="0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против</a:t>
            </a:r>
            <a:r>
              <a:rPr lang="en-US" sz="160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45% в </a:t>
            </a:r>
            <a:r>
              <a:rPr lang="en-US" sz="1600" b="0" i="0" u="none" strike="noStrike" cap="none" dirty="0" err="1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контрол</a:t>
            </a:r>
            <a:r>
              <a:rPr lang="ru-RU" sz="1600" b="0" i="0" u="none" strike="noStrike" cap="none" dirty="0" err="1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ьной</a:t>
            </a:r>
            <a:r>
              <a:rPr lang="ru-RU" sz="1600" b="0" i="0" u="none" strike="noStrike" cap="none" dirty="0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группе А</a:t>
            </a:r>
            <a:r>
              <a:rPr lang="en-US" sz="1600" b="0" i="0" u="none" strike="noStrike" cap="none" dirty="0" smtClean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b="0" i="0" u="none" strike="noStrike" cap="none" dirty="0"/>
          </a:p>
        </p:txBody>
      </p:sp>
      <p:sp>
        <p:nvSpPr>
          <p:cNvPr id="144" name="Google Shape;144;p18"/>
          <p:cNvSpPr/>
          <p:nvPr/>
        </p:nvSpPr>
        <p:spPr>
          <a:xfrm>
            <a:off x="1200150" y="6726079"/>
            <a:ext cx="6045756" cy="982147"/>
          </a:xfrm>
          <a:prstGeom prst="roundRect">
            <a:avLst>
              <a:gd name="adj" fmla="val 7580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1384935" y="6910864"/>
            <a:ext cx="2215515" cy="27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Bricolage Grotesque"/>
              <a:buNone/>
            </a:pPr>
            <a:r>
              <a:rPr lang="en-US" sz="17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+47 п.п.</a:t>
            </a:r>
            <a:endParaRPr sz="1700" b="0" i="0" u="none" strike="noStrike" cap="none"/>
          </a:p>
        </p:txBody>
      </p:sp>
      <p:sp>
        <p:nvSpPr>
          <p:cNvPr id="146" name="Google Shape;146;p18"/>
          <p:cNvSpPr/>
          <p:nvPr/>
        </p:nvSpPr>
        <p:spPr>
          <a:xfrm>
            <a:off x="1384935" y="7270790"/>
            <a:ext cx="5676186" cy="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Абсолютный рост</a:t>
            </a:r>
            <a:endParaRPr sz="1350" b="0" i="0" u="none" strike="noStrike" cap="none"/>
          </a:p>
        </p:txBody>
      </p:sp>
      <p:sp>
        <p:nvSpPr>
          <p:cNvPr id="147" name="Google Shape;147;p18"/>
          <p:cNvSpPr/>
          <p:nvPr/>
        </p:nvSpPr>
        <p:spPr>
          <a:xfrm>
            <a:off x="7384375" y="6726079"/>
            <a:ext cx="6045875" cy="982147"/>
          </a:xfrm>
          <a:prstGeom prst="roundRect">
            <a:avLst>
              <a:gd name="adj" fmla="val 7580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569160" y="6910864"/>
            <a:ext cx="2215515" cy="27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Bricolage Grotesque"/>
              <a:buNone/>
            </a:pPr>
            <a:r>
              <a:rPr lang="en-US" sz="17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+104%</a:t>
            </a:r>
            <a:endParaRPr sz="1700" b="0" i="0" u="none" strike="noStrike" cap="none"/>
          </a:p>
        </p:txBody>
      </p:sp>
      <p:sp>
        <p:nvSpPr>
          <p:cNvPr id="149" name="Google Shape;149;p18"/>
          <p:cNvSpPr/>
          <p:nvPr/>
        </p:nvSpPr>
        <p:spPr>
          <a:xfrm>
            <a:off x="7569160" y="7270790"/>
            <a:ext cx="5676305" cy="25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350"/>
              <a:buFont typeface="Inter"/>
              <a:buNone/>
            </a:pPr>
            <a:r>
              <a:rPr lang="en-US" sz="13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Относительный рост</a:t>
            </a:r>
            <a:endParaRPr sz="1350" b="0" i="0" u="none" strike="noStrike" cap="none"/>
          </a:p>
        </p:txBody>
      </p:sp>
      <p:sp>
        <p:nvSpPr>
          <p:cNvPr id="13" name="Прямоугольник 12"/>
          <p:cNvSpPr/>
          <p:nvPr/>
        </p:nvSpPr>
        <p:spPr>
          <a:xfrm>
            <a:off x="11787822" y="7505700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546101" y="110331"/>
            <a:ext cx="14084299" cy="1341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200"/>
              <a:buFont typeface="Bricolage Grotesque"/>
              <a:buNone/>
            </a:pPr>
            <a:r>
              <a:rPr lang="en-US" sz="42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Клики</a:t>
            </a:r>
            <a:r>
              <a:rPr lang="en-US" sz="42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и </a:t>
            </a:r>
            <a:r>
              <a:rPr lang="en-US" sz="42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просмотры</a:t>
            </a:r>
            <a:r>
              <a:rPr lang="en-US" sz="4200" b="0" i="0" u="none" strike="noStrike" cap="none" dirty="0" smtClean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:</a:t>
            </a:r>
            <a:endParaRPr lang="ru-RU" sz="4200" b="0" i="0" u="none" strike="noStrike" cap="none" dirty="0" smtClean="0">
              <a:solidFill>
                <a:srgbClr val="2C2926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200"/>
              <a:buFont typeface="Bricolage Grotesque"/>
              <a:buNone/>
            </a:pPr>
            <a:r>
              <a:rPr lang="en-US" sz="4200" b="0" i="0" u="none" strike="noStrike" cap="none" dirty="0" smtClean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ru-RU" sz="4200" b="0" i="0" u="none" strike="noStrike" cap="none" dirty="0" smtClean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               </a:t>
            </a:r>
            <a:r>
              <a:rPr lang="en-US" sz="4200" b="0" i="0" u="none" strike="noStrike" cap="none" dirty="0" err="1" smtClean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взаимодействие</a:t>
            </a:r>
            <a:r>
              <a:rPr lang="en-US" sz="4200" b="0" i="0" u="none" strike="noStrike" cap="none" dirty="0" smtClean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2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с </a:t>
            </a:r>
            <a:r>
              <a:rPr lang="en-US" sz="42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премьерами</a:t>
            </a:r>
            <a:r>
              <a:rPr lang="en-US" sz="42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42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выросло</a:t>
            </a:r>
            <a:endParaRPr sz="4200" b="0" i="0" u="none" strike="noStrike" cap="none" dirty="0"/>
          </a:p>
        </p:txBody>
      </p:sp>
      <p:sp>
        <p:nvSpPr>
          <p:cNvPr id="156" name="Google Shape;156;p19"/>
          <p:cNvSpPr/>
          <p:nvPr/>
        </p:nvSpPr>
        <p:spPr>
          <a:xfrm>
            <a:off x="1534239" y="3292038"/>
            <a:ext cx="2640687" cy="536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200"/>
              <a:buFont typeface="Bricolage Grotesque"/>
              <a:buNone/>
            </a:pPr>
            <a:r>
              <a:rPr lang="en-US" sz="4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40%</a:t>
            </a:r>
            <a:endParaRPr sz="4200" b="0" i="0" u="none" strike="noStrike" cap="none"/>
          </a:p>
        </p:txBody>
      </p:sp>
      <p:pic>
        <p:nvPicPr>
          <p:cNvPr id="157" name="Google Shape;157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4441" y="1950204"/>
            <a:ext cx="3220403" cy="322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1512808" y="5427305"/>
            <a:ext cx="2683669" cy="335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100"/>
              <a:buFont typeface="Bricolage Grotesque"/>
              <a:buNone/>
            </a:pPr>
            <a:r>
              <a:rPr lang="en-US" sz="21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Рост</a:t>
            </a:r>
            <a:r>
              <a:rPr lang="en-US" sz="21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100" b="0" i="0" u="none" strike="noStrike" cap="none" dirty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CTR</a:t>
            </a:r>
            <a:endParaRPr sz="2100" b="0" i="0" u="none" strike="noStrike" cap="none" dirty="0">
              <a:solidFill>
                <a:schemeClr val="tx1"/>
              </a:solidFill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751403" y="5884624"/>
            <a:ext cx="4206478" cy="66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Inter"/>
              <a:buNone/>
            </a:pPr>
            <a:r>
              <a:rPr lang="en-US" sz="16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 10% до 14% — доля пользователей с кликом по премьере</a:t>
            </a:r>
            <a:endParaRPr sz="1650" b="0" i="0" u="none" strike="noStrike" cap="none"/>
          </a:p>
        </p:txBody>
      </p:sp>
      <p:sp>
        <p:nvSpPr>
          <p:cNvPr id="160" name="Google Shape;160;p19"/>
          <p:cNvSpPr/>
          <p:nvPr/>
        </p:nvSpPr>
        <p:spPr>
          <a:xfrm>
            <a:off x="5994678" y="3292038"/>
            <a:ext cx="2640687" cy="536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200"/>
              <a:buFont typeface="Bricolage Grotesque"/>
              <a:buNone/>
            </a:pPr>
            <a:r>
              <a:rPr lang="en-US" sz="4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43%</a:t>
            </a:r>
            <a:endParaRPr sz="4200" b="0" i="0" u="none" strike="noStrike" cap="none"/>
          </a:p>
        </p:txBody>
      </p:sp>
      <p:pic>
        <p:nvPicPr>
          <p:cNvPr id="161" name="Google Shape;161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4880" y="1950204"/>
            <a:ext cx="3220403" cy="322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/>
          <p:nvPr/>
        </p:nvSpPr>
        <p:spPr>
          <a:xfrm>
            <a:off x="5973247" y="5427305"/>
            <a:ext cx="2683669" cy="335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100"/>
              <a:buFont typeface="Bricolage Grotesque"/>
              <a:buNone/>
            </a:pPr>
            <a:r>
              <a:rPr lang="en-US" sz="2100" b="0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Рост</a:t>
            </a:r>
            <a:r>
              <a:rPr lang="en-US" sz="2100" b="0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100" b="0" i="0" u="none" strike="noStrike" cap="none" dirty="0">
                <a:solidFill>
                  <a:schemeClr val="tx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Play Rate</a:t>
            </a:r>
            <a:endParaRPr sz="2100" b="0" i="0" u="none" strike="noStrike" cap="none" dirty="0">
              <a:solidFill>
                <a:schemeClr val="tx1"/>
              </a:solidFill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5211842" y="5884624"/>
            <a:ext cx="4206597" cy="66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Inter"/>
              <a:buNone/>
            </a:pP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 7%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10% —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доля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запустивших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просмотр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новинки</a:t>
            </a:r>
            <a:endParaRPr sz="1650" b="0" i="0" u="none" strike="noStrike" cap="none" dirty="0"/>
          </a:p>
        </p:txBody>
      </p:sp>
      <p:sp>
        <p:nvSpPr>
          <p:cNvPr id="164" name="Google Shape;164;p19"/>
          <p:cNvSpPr/>
          <p:nvPr/>
        </p:nvSpPr>
        <p:spPr>
          <a:xfrm>
            <a:off x="10455235" y="3292038"/>
            <a:ext cx="2640687" cy="536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200"/>
              <a:buFont typeface="Bricolage Grotesque"/>
              <a:buNone/>
            </a:pPr>
            <a:r>
              <a:rPr lang="en-US" sz="4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58%</a:t>
            </a:r>
            <a:endParaRPr sz="4200" b="0" i="0" u="none" strike="noStrike" cap="none"/>
          </a:p>
        </p:txBody>
      </p:sp>
      <p:pic>
        <p:nvPicPr>
          <p:cNvPr id="165" name="Google Shape;165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65437" y="1950204"/>
            <a:ext cx="3220403" cy="322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10433804" y="5427305"/>
            <a:ext cx="2683669" cy="335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100"/>
              <a:buFont typeface="Bricolage Grotesque"/>
              <a:buNone/>
            </a:pPr>
            <a:r>
              <a:rPr lang="en-US" sz="21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Рост времени</a:t>
            </a:r>
            <a:endParaRPr sz="2100" b="0" i="0" u="none" strike="noStrike" cap="none"/>
          </a:p>
        </p:txBody>
      </p:sp>
      <p:sp>
        <p:nvSpPr>
          <p:cNvPr id="167" name="Google Shape;167;p19"/>
          <p:cNvSpPr/>
          <p:nvPr/>
        </p:nvSpPr>
        <p:spPr>
          <a:xfrm>
            <a:off x="9672399" y="5884624"/>
            <a:ext cx="4206478" cy="66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Inter"/>
              <a:buNone/>
            </a:pP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Среднее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время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просмотра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премьер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: с 60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до</a:t>
            </a:r>
            <a:r>
              <a:rPr lang="en-US" sz="1650" b="0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95 </a:t>
            </a:r>
            <a:r>
              <a:rPr lang="en-US" sz="1650" b="0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секунд</a:t>
            </a:r>
            <a:endParaRPr sz="1650" b="0" i="0" u="none" strike="noStrike" cap="none" dirty="0"/>
          </a:p>
        </p:txBody>
      </p:sp>
      <p:sp>
        <p:nvSpPr>
          <p:cNvPr id="168" name="Google Shape;168;p19"/>
          <p:cNvSpPr/>
          <p:nvPr/>
        </p:nvSpPr>
        <p:spPr>
          <a:xfrm>
            <a:off x="751403" y="7264241"/>
            <a:ext cx="13127593" cy="33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650"/>
              <a:buFont typeface="Inter"/>
              <a:buNone/>
            </a:pP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Пользователи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не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просто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видят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блок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—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они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чаще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кликают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начинают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смотреть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новые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фильмы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650" b="1" i="0" u="none" strike="noStrike" cap="none" dirty="0" err="1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сериалы</a:t>
            </a:r>
            <a:r>
              <a:rPr lang="en-US" sz="1650" b="1" i="0" u="none" strike="noStrike" cap="none" dirty="0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50" b="1" i="0" u="none" strike="noStrike" cap="none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11823700" y="7598449"/>
            <a:ext cx="2806700" cy="556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793790" y="1499473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Общая вовлечённость и кому помогает сильнее</a:t>
            </a:r>
            <a:endParaRPr sz="4450" b="0" i="0" u="none" strike="noStrike" cap="none"/>
          </a:p>
        </p:txBody>
      </p:sp>
      <p:sp>
        <p:nvSpPr>
          <p:cNvPr id="175" name="Google Shape;175;p20"/>
          <p:cNvSpPr/>
          <p:nvPr/>
        </p:nvSpPr>
        <p:spPr>
          <a:xfrm>
            <a:off x="793790" y="3484007"/>
            <a:ext cx="3437334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1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Общее</a:t>
            </a:r>
            <a:r>
              <a:rPr lang="en-US" sz="2200" b="1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200" b="1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время</a:t>
            </a:r>
            <a:r>
              <a:rPr lang="en-US" sz="2200" b="1" i="0" u="none" strike="noStrike" cap="none" dirty="0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2200" b="1" i="0" u="none" strike="noStrike" cap="none" dirty="0" err="1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просмотра</a:t>
            </a:r>
            <a:endParaRPr sz="2200" b="1" i="0" u="none" strike="noStrike" cap="none" dirty="0"/>
          </a:p>
        </p:txBody>
      </p:sp>
      <p:sp>
        <p:nvSpPr>
          <p:cNvPr id="176" name="Google Shape;176;p20"/>
          <p:cNvSpPr/>
          <p:nvPr/>
        </p:nvSpPr>
        <p:spPr>
          <a:xfrm>
            <a:off x="793790" y="4065151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Среднее время на пользователя: </a:t>
            </a: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A — 1100 сек., B — 1115 сек.</a:t>
            </a:r>
            <a:endParaRPr sz="1750" b="0" i="0" u="none" strike="noStrike" cap="none"/>
          </a:p>
        </p:txBody>
      </p:sp>
      <p:sp>
        <p:nvSpPr>
          <p:cNvPr id="177" name="Google Shape;177;p20"/>
          <p:cNvSpPr/>
          <p:nvPr/>
        </p:nvSpPr>
        <p:spPr>
          <a:xfrm>
            <a:off x="793790" y="4995029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Общая вовлечённость не снижается — изменение не «каннибализирует» другие блоки.</a:t>
            </a:r>
            <a:endParaRPr sz="1750" b="0" i="0" u="none" strike="noStrike" cap="none"/>
          </a:p>
        </p:txBody>
      </p:sp>
      <p:sp>
        <p:nvSpPr>
          <p:cNvPr id="178" name="Google Shape;178;p20"/>
          <p:cNvSpPr/>
          <p:nvPr/>
        </p:nvSpPr>
        <p:spPr>
          <a:xfrm>
            <a:off x="7436168" y="3257193"/>
            <a:ext cx="6571417" cy="3472815"/>
          </a:xfrm>
          <a:prstGeom prst="roundRect">
            <a:avLst>
              <a:gd name="adj" fmla="val 4703"/>
            </a:avLst>
          </a:prstGeom>
          <a:solidFill>
            <a:srgbClr val="E7BF6A">
              <a:alpha val="9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7662982" y="34840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 SemiBold"/>
              <a:buNone/>
            </a:pPr>
            <a:r>
              <a:rPr lang="en-US" sz="2200" b="1" i="0" u="none" strike="noStrike" cap="none">
                <a:solidFill>
                  <a:srgbClr val="2C2926"/>
                </a:solidFill>
                <a:latin typeface="Bricolage Grotesque SemiBold"/>
                <a:ea typeface="Bricolage Grotesque SemiBold"/>
                <a:cs typeface="Bricolage Grotesque SemiBold"/>
                <a:sym typeface="Bricolage Grotesque SemiBold"/>
              </a:rPr>
              <a:t>Сегментный анализ</a:t>
            </a:r>
            <a:endParaRPr sz="2200" b="0" i="0" u="none" strike="noStrike" cap="none"/>
          </a:p>
        </p:txBody>
      </p:sp>
      <p:sp>
        <p:nvSpPr>
          <p:cNvPr id="180" name="Google Shape;180;p20"/>
          <p:cNvSpPr/>
          <p:nvPr/>
        </p:nvSpPr>
        <p:spPr>
          <a:xfrm>
            <a:off x="7662982" y="4065151"/>
            <a:ext cx="6117788" cy="1530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Новые пользователи:</a:t>
            </a: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play rate премьер вырос с ~6% до ~11% — наибольший эффект</a:t>
            </a:r>
            <a:endParaRPr sz="1750" b="0" i="0" u="none" strike="noStrike" cap="none"/>
          </a:p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Возвращающиеся:</a:t>
            </a: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 эффект положительный, но более умеренный</a:t>
            </a:r>
            <a:endParaRPr sz="1750" b="0" i="0" u="none" strike="noStrike" cap="none"/>
          </a:p>
        </p:txBody>
      </p:sp>
      <p:sp>
        <p:nvSpPr>
          <p:cNvPr id="181" name="Google Shape;181;p20"/>
          <p:cNvSpPr/>
          <p:nvPr/>
        </p:nvSpPr>
        <p:spPr>
          <a:xfrm>
            <a:off x="7662982" y="5800130"/>
            <a:ext cx="611778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Для новых пользователей премьеры — важный элемент первого опыта в продукте.</a:t>
            </a:r>
            <a:endParaRPr sz="1750" b="0" i="0" u="none" strike="noStrike" cap="none"/>
          </a:p>
        </p:txBody>
      </p:sp>
      <p:sp>
        <p:nvSpPr>
          <p:cNvPr id="10" name="Прямоугольник 9"/>
          <p:cNvSpPr/>
          <p:nvPr/>
        </p:nvSpPr>
        <p:spPr>
          <a:xfrm>
            <a:off x="11823700" y="7404100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763429" y="663059"/>
            <a:ext cx="7617143" cy="1363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250"/>
              <a:buFont typeface="Bricolage Grotesque"/>
              <a:buNone/>
            </a:pPr>
            <a:r>
              <a:rPr lang="en-US" sz="42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Выводы: гипотеза подтверждена</a:t>
            </a:r>
            <a:endParaRPr sz="4250" b="0" i="0" u="none" strike="noStrike" cap="none"/>
          </a:p>
        </p:txBody>
      </p:sp>
      <p:sp>
        <p:nvSpPr>
          <p:cNvPr id="189" name="Google Shape;189;p21"/>
          <p:cNvSpPr/>
          <p:nvPr/>
        </p:nvSpPr>
        <p:spPr>
          <a:xfrm>
            <a:off x="763429" y="2341007"/>
            <a:ext cx="490776" cy="490776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845225" y="2381905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550"/>
              <a:buFont typeface="Bricolage Grotesque"/>
              <a:buNone/>
            </a:pPr>
            <a:r>
              <a:rPr lang="en-US" sz="25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1</a:t>
            </a:r>
            <a:endParaRPr sz="2550" b="0" i="0" u="none" strike="noStrike" cap="none"/>
          </a:p>
        </p:txBody>
      </p:sp>
      <p:sp>
        <p:nvSpPr>
          <p:cNvPr id="191" name="Google Shape;191;p21"/>
          <p:cNvSpPr/>
          <p:nvPr/>
        </p:nvSpPr>
        <p:spPr>
          <a:xfrm>
            <a:off x="1463992" y="2415897"/>
            <a:ext cx="4303871" cy="34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100"/>
              <a:buFont typeface="Bricolage Grotesque"/>
              <a:buNone/>
            </a:pPr>
            <a:r>
              <a:rPr lang="en-US" sz="21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Видимость блока: с 45% до 92%</a:t>
            </a:r>
            <a:endParaRPr sz="2100" b="0" i="0" u="none" strike="noStrike" cap="none"/>
          </a:p>
        </p:txBody>
      </p:sp>
      <p:sp>
        <p:nvSpPr>
          <p:cNvPr id="192" name="Google Shape;192;p21"/>
          <p:cNvSpPr/>
          <p:nvPr/>
        </p:nvSpPr>
        <p:spPr>
          <a:xfrm>
            <a:off x="1463992" y="2882503"/>
            <a:ext cx="6916579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Почти все пользователи теперь видят премьеры.</a:t>
            </a:r>
            <a:endParaRPr sz="1700" b="0" i="0" u="none" strike="noStrike" cap="none"/>
          </a:p>
        </p:txBody>
      </p:sp>
      <p:sp>
        <p:nvSpPr>
          <p:cNvPr id="193" name="Google Shape;193;p21"/>
          <p:cNvSpPr/>
          <p:nvPr/>
        </p:nvSpPr>
        <p:spPr>
          <a:xfrm>
            <a:off x="763429" y="3644384"/>
            <a:ext cx="490776" cy="490776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845225" y="3685282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550"/>
              <a:buFont typeface="Bricolage Grotesque"/>
              <a:buNone/>
            </a:pPr>
            <a:r>
              <a:rPr lang="en-US" sz="25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2</a:t>
            </a:r>
            <a:endParaRPr sz="2550" b="0" i="0" u="none" strike="noStrike" cap="none"/>
          </a:p>
        </p:txBody>
      </p:sp>
      <p:sp>
        <p:nvSpPr>
          <p:cNvPr id="195" name="Google Shape;195;p21"/>
          <p:cNvSpPr/>
          <p:nvPr/>
        </p:nvSpPr>
        <p:spPr>
          <a:xfrm>
            <a:off x="1463992" y="3719274"/>
            <a:ext cx="3714393" cy="34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100"/>
              <a:buFont typeface="Bricolage Grotesque"/>
              <a:buNone/>
            </a:pPr>
            <a:r>
              <a:rPr lang="en-US" sz="21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CTR +40%, Play Rate +42.9%</a:t>
            </a:r>
            <a:endParaRPr sz="2100" b="0" i="0" u="none" strike="noStrike" cap="none"/>
          </a:p>
        </p:txBody>
      </p:sp>
      <p:sp>
        <p:nvSpPr>
          <p:cNvPr id="196" name="Google Shape;196;p21"/>
          <p:cNvSpPr/>
          <p:nvPr/>
        </p:nvSpPr>
        <p:spPr>
          <a:xfrm>
            <a:off x="1463992" y="4185880"/>
            <a:ext cx="6916579" cy="68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Фактическое взаимодействие с новинками значительно выросло.</a:t>
            </a:r>
            <a:endParaRPr sz="1700" b="0" i="0" u="none" strike="noStrike" cap="none"/>
          </a:p>
        </p:txBody>
      </p:sp>
      <p:sp>
        <p:nvSpPr>
          <p:cNvPr id="197" name="Google Shape;197;p21"/>
          <p:cNvSpPr/>
          <p:nvPr/>
        </p:nvSpPr>
        <p:spPr>
          <a:xfrm>
            <a:off x="763429" y="5290066"/>
            <a:ext cx="490776" cy="490776"/>
          </a:xfrm>
          <a:prstGeom prst="roundRect">
            <a:avLst>
              <a:gd name="adj" fmla="val 18668"/>
            </a:avLst>
          </a:prstGeom>
          <a:solidFill>
            <a:srgbClr val="FFFFFF"/>
          </a:solidFill>
          <a:ln w="9525" cap="flat" cmpd="sng">
            <a:solidFill>
              <a:srgbClr val="F8EC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845225" y="5330964"/>
            <a:ext cx="327184" cy="40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550"/>
              <a:buFont typeface="Bricolage Grotesque"/>
              <a:buNone/>
            </a:pPr>
            <a:r>
              <a:rPr lang="en-US" sz="25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3</a:t>
            </a:r>
            <a:endParaRPr sz="2550" b="0" i="0" u="none" strike="noStrike" cap="none"/>
          </a:p>
        </p:txBody>
      </p:sp>
      <p:sp>
        <p:nvSpPr>
          <p:cNvPr id="199" name="Google Shape;199;p21"/>
          <p:cNvSpPr/>
          <p:nvPr/>
        </p:nvSpPr>
        <p:spPr>
          <a:xfrm>
            <a:off x="1463992" y="5364956"/>
            <a:ext cx="4385072" cy="34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100"/>
              <a:buFont typeface="Bricolage Grotesque"/>
              <a:buNone/>
            </a:pPr>
            <a:r>
              <a:rPr lang="en-US" sz="21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Время просмотра премьер +58%</a:t>
            </a:r>
            <a:endParaRPr sz="2100" b="0" i="0" u="none" strike="noStrike" cap="none"/>
          </a:p>
        </p:txBody>
      </p:sp>
      <p:sp>
        <p:nvSpPr>
          <p:cNvPr id="200" name="Google Shape;200;p21"/>
          <p:cNvSpPr/>
          <p:nvPr/>
        </p:nvSpPr>
        <p:spPr>
          <a:xfrm>
            <a:off x="1463992" y="5831562"/>
            <a:ext cx="6916579" cy="34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Общие метрики и техническая стабильность не ухудшились.</a:t>
            </a:r>
            <a:endParaRPr sz="1700" b="0" i="0" u="none" strike="noStrike" cap="none"/>
          </a:p>
        </p:txBody>
      </p:sp>
      <p:sp>
        <p:nvSpPr>
          <p:cNvPr id="201" name="Google Shape;201;p21"/>
          <p:cNvSpPr/>
          <p:nvPr/>
        </p:nvSpPr>
        <p:spPr>
          <a:xfrm>
            <a:off x="1090613" y="6645831"/>
            <a:ext cx="7289959" cy="684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00"/>
              <a:buFont typeface="Inter"/>
              <a:buNone/>
            </a:pPr>
            <a:r>
              <a:rPr lang="en-US" sz="170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Изменение структуры главного экрана даёт устойчивый и статистически значимый рост вовлечённости в новинки.</a:t>
            </a:r>
            <a:endParaRPr sz="1700" b="0" i="0" u="none" strike="noStrike" cap="none"/>
          </a:p>
        </p:txBody>
      </p:sp>
      <p:sp>
        <p:nvSpPr>
          <p:cNvPr id="202" name="Google Shape;202;p21"/>
          <p:cNvSpPr/>
          <p:nvPr/>
        </p:nvSpPr>
        <p:spPr>
          <a:xfrm>
            <a:off x="763429" y="6409849"/>
            <a:ext cx="30480" cy="1156573"/>
          </a:xfrm>
          <a:prstGeom prst="rect">
            <a:avLst/>
          </a:prstGeom>
          <a:solidFill>
            <a:srgbClr val="E7B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/>
          <p:nvPr/>
        </p:nvSpPr>
        <p:spPr>
          <a:xfrm>
            <a:off x="793790" y="1064419"/>
            <a:ext cx="12391311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4450"/>
              <a:buFont typeface="Bricolage Grotesque"/>
              <a:buNone/>
            </a:pPr>
            <a:r>
              <a:rPr lang="en-US" sz="445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Рекомендации и дальнейшие эксперименты</a:t>
            </a:r>
            <a:endParaRPr sz="4450" b="0" i="0" u="none" strike="noStrike" cap="none"/>
          </a:p>
        </p:txBody>
      </p:sp>
      <p:pic>
        <p:nvPicPr>
          <p:cNvPr id="209" name="Google Shape;209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2226826"/>
            <a:ext cx="1829753" cy="113085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793790" y="3641169"/>
            <a:ext cx="378356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Зафиксировать изменение</a:t>
            </a:r>
            <a:endParaRPr sz="2200" b="0" i="0" u="none" strike="noStrike" cap="none"/>
          </a:p>
        </p:txBody>
      </p:sp>
      <p:sp>
        <p:nvSpPr>
          <p:cNvPr id="211" name="Google Shape;211;p22"/>
          <p:cNvSpPr/>
          <p:nvPr/>
        </p:nvSpPr>
        <p:spPr>
          <a:xfrm>
            <a:off x="793790" y="4131588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Перевести «Премьеры недели» в верхнюю часть экрана для всех пользователей.</a:t>
            </a:r>
            <a:endParaRPr sz="1750" b="0" i="0" u="none" strike="noStrike" cap="none"/>
          </a:p>
        </p:txBody>
      </p:sp>
      <p:pic>
        <p:nvPicPr>
          <p:cNvPr id="212" name="Google Shape;212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5893" y="2226826"/>
            <a:ext cx="1829753" cy="113085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/>
          <p:nvPr/>
        </p:nvSpPr>
        <p:spPr>
          <a:xfrm>
            <a:off x="5235893" y="364116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Развивать блок</a:t>
            </a:r>
            <a:endParaRPr sz="2200" b="0" i="0" u="none" strike="noStrike" cap="none"/>
          </a:p>
        </p:txBody>
      </p:sp>
      <p:sp>
        <p:nvSpPr>
          <p:cNvPr id="214" name="Google Shape;214;p22"/>
          <p:cNvSpPr/>
          <p:nvPr/>
        </p:nvSpPr>
        <p:spPr>
          <a:xfrm>
            <a:off x="5235893" y="4131588"/>
            <a:ext cx="415861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Тестировать карточки, авто‑превью, бейджи «Новинка» и персонализацию контента внутри блока.</a:t>
            </a:r>
            <a:endParaRPr sz="1750" b="0" i="0" u="none" strike="noStrike" cap="none"/>
          </a:p>
        </p:txBody>
      </p:sp>
      <p:pic>
        <p:nvPicPr>
          <p:cNvPr id="215" name="Google Shape;215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77995" y="2226826"/>
            <a:ext cx="1829753" cy="1130856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/>
          <p:nvPr/>
        </p:nvSpPr>
        <p:spPr>
          <a:xfrm>
            <a:off x="9677995" y="3641169"/>
            <a:ext cx="344352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2200"/>
              <a:buFont typeface="Bricolage Grotesque"/>
              <a:buNone/>
            </a:pPr>
            <a:r>
              <a:rPr lang="en-US" sz="2200" b="0" i="0" u="none" strike="noStrike" cap="none">
                <a:solidFill>
                  <a:srgbClr val="2C2926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Масштабировать подход</a:t>
            </a:r>
            <a:endParaRPr sz="2200" b="0" i="0" u="none" strike="noStrike" cap="none"/>
          </a:p>
        </p:txBody>
      </p:sp>
      <p:sp>
        <p:nvSpPr>
          <p:cNvPr id="217" name="Google Shape;217;p22"/>
          <p:cNvSpPr/>
          <p:nvPr/>
        </p:nvSpPr>
        <p:spPr>
          <a:xfrm>
            <a:off x="9677995" y="4131588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2926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2C2926"/>
                </a:solidFill>
                <a:latin typeface="Inter"/>
                <a:ea typeface="Inter"/>
                <a:cs typeface="Inter"/>
                <a:sym typeface="Inter"/>
              </a:rPr>
              <a:t>Использовать этот A/B‑тест как шаблон для экспериментов с другими блоками главного экрана.</a:t>
            </a:r>
            <a:endParaRPr sz="1750" b="0" i="0" u="none" strike="noStrike" cap="none"/>
          </a:p>
        </p:txBody>
      </p:sp>
      <p:sp>
        <p:nvSpPr>
          <p:cNvPr id="218" name="Google Shape;218;p22"/>
          <p:cNvSpPr/>
          <p:nvPr/>
        </p:nvSpPr>
        <p:spPr>
          <a:xfrm>
            <a:off x="793790" y="5838349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F4E3B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0604" y="6182439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1530906" y="6121837"/>
            <a:ext cx="1207889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Даже простое изменение порядка блоков даёт ощутимый прирост ключевых метрик — если подходить к нему через данные и A/B‑тестирование.</a:t>
            </a:r>
            <a:endParaRPr sz="1750" b="0" i="0" u="none" strike="noStrike" cap="none"/>
          </a:p>
        </p:txBody>
      </p:sp>
      <p:sp>
        <p:nvSpPr>
          <p:cNvPr id="15" name="Прямоугольник 14"/>
          <p:cNvSpPr/>
          <p:nvPr/>
        </p:nvSpPr>
        <p:spPr>
          <a:xfrm>
            <a:off x="11823700" y="7505700"/>
            <a:ext cx="2806700" cy="723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636</Words>
  <Application>Microsoft Office PowerPoint</Application>
  <PresentationFormat>Произвольный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Inter</vt:lpstr>
      <vt:lpstr>Calibri</vt:lpstr>
      <vt:lpstr>Arial</vt:lpstr>
      <vt:lpstr>Bricolage Grotesque SemiBold</vt:lpstr>
      <vt:lpstr>Bricolage Grotesque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C0500030102001</cp:lastModifiedBy>
  <cp:revision>6</cp:revision>
  <dcterms:modified xsi:type="dcterms:W3CDTF">2026-02-19T07:02:28Z</dcterms:modified>
</cp:coreProperties>
</file>